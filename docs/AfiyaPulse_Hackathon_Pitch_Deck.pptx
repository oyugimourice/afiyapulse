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12.8</c:v>
                </c:pt>
                <c:pt idx="1">
                  <c:v>14.1</c:v>
                </c:pt>
                <c:pt idx="2">
                  <c:v>15.4</c:v>
                </c:pt>
                <c:pt idx="3">
                  <c:v>17.2</c:v>
                </c:pt>
                <c:pt idx="4">
                  <c:v>19.5</c:v>
                </c:pt>
                <c:pt idx="5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0" y="0"/>
            <a:ext cx="6350000" cy="914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563EB">
                  <a:alpha val="8000"/>
                </a:srgbClr>
              </a:gs>
              <a:gs pos="50000">
                <a:srgbClr val="14B8A6">
                  <a:alpha val="6000"/>
                </a:srgbClr>
              </a:gs>
              <a:gs pos="100000">
                <a:srgbClr val="F1F5F9">
                  <a:alpha val="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3335000" y="1016000"/>
            <a:ext cx="2286000" cy="2286000"/>
          </a:xfrm>
          <a:prstGeom prst="ellipse">
            <a:avLst/>
          </a:prstGeom>
          <a:solidFill>
            <a:srgbClr val="2563EB">
              <a:alpha val="3137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84000" y="6096000"/>
            <a:ext cx="1524000" cy="1524000"/>
          </a:xfrm>
          <a:prstGeom prst="ellipse">
            <a:avLst/>
          </a:prstGeom>
          <a:solidFill>
            <a:srgbClr val="14B8A6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36195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762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AfiyaPulse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16000" y="39370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Clinical Documentation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635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 consultations into structured notes, prescriptions, referrals, and follow-up plans.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842000"/>
            <a:ext cx="35560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52400" dist="50800" dir="5400000">
              <a:srgbClr val="2563eb">
                <a:alpha val="1882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6000" y="5842000"/>
            <a:ext cx="355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HACKATHON DEMO DECK —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876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NXforge | Built for clinical teams in fast-moving care environments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460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214114"/>
                </a:moveTo>
                <a:lnTo>
                  <a:pt x="478234" y="172839"/>
                </a:lnTo>
                <a:cubicBezTo>
                  <a:pt x="428625" y="104180"/>
                  <a:pt x="349052" y="63500"/>
                  <a:pt x="264120" y="63500"/>
                </a:cubicBezTo>
                <a:cubicBezTo>
                  <a:pt x="118269" y="63500"/>
                  <a:pt x="0" y="181769"/>
                  <a:pt x="0" y="327620"/>
                </a:cubicBezTo>
                <a:lnTo>
                  <a:pt x="0" y="332780"/>
                </a:lnTo>
                <a:cubicBezTo>
                  <a:pt x="0" y="379611"/>
                  <a:pt x="12303" y="428030"/>
                  <a:pt x="32941" y="476250"/>
                </a:cubicBezTo>
                <a:lnTo>
                  <a:pt x="243284" y="476250"/>
                </a:lnTo>
                <a:cubicBezTo>
                  <a:pt x="249634" y="476250"/>
                  <a:pt x="255389" y="472480"/>
                  <a:pt x="257969" y="466527"/>
                </a:cubicBezTo>
                <a:lnTo>
                  <a:pt x="321072" y="315119"/>
                </a:lnTo>
                <a:cubicBezTo>
                  <a:pt x="328414" y="297656"/>
                  <a:pt x="345480" y="286147"/>
                  <a:pt x="364331" y="285750"/>
                </a:cubicBezTo>
                <a:cubicBezTo>
                  <a:pt x="383183" y="285353"/>
                  <a:pt x="400645" y="296466"/>
                  <a:pt x="408384" y="313730"/>
                </a:cubicBezTo>
                <a:lnTo>
                  <a:pt x="510183" y="539750"/>
                </a:lnTo>
                <a:lnTo>
                  <a:pt x="592336" y="375444"/>
                </a:lnTo>
                <a:cubicBezTo>
                  <a:pt x="600472" y="359370"/>
                  <a:pt x="616942" y="349052"/>
                  <a:pt x="635000" y="349052"/>
                </a:cubicBezTo>
                <a:cubicBezTo>
                  <a:pt x="653058" y="349052"/>
                  <a:pt x="669528" y="359172"/>
                  <a:pt x="677664" y="375444"/>
                </a:cubicBezTo>
                <a:lnTo>
                  <a:pt x="723702" y="467320"/>
                </a:lnTo>
                <a:cubicBezTo>
                  <a:pt x="726480" y="472678"/>
                  <a:pt x="731838" y="476052"/>
                  <a:pt x="737989" y="476052"/>
                </a:cubicBezTo>
                <a:lnTo>
                  <a:pt x="983258" y="476052"/>
                </a:lnTo>
                <a:cubicBezTo>
                  <a:pt x="1004094" y="427831"/>
                  <a:pt x="1016198" y="379413"/>
                  <a:pt x="1016198" y="332581"/>
                </a:cubicBezTo>
                <a:lnTo>
                  <a:pt x="1016198" y="327422"/>
                </a:lnTo>
                <a:cubicBezTo>
                  <a:pt x="1016000" y="181769"/>
                  <a:pt x="897731" y="63500"/>
                  <a:pt x="751880" y="63500"/>
                </a:cubicBezTo>
                <a:cubicBezTo>
                  <a:pt x="667147" y="63500"/>
                  <a:pt x="587375" y="104180"/>
                  <a:pt x="537766" y="172839"/>
                </a:cubicBezTo>
                <a:lnTo>
                  <a:pt x="508000" y="213916"/>
                </a:lnTo>
                <a:close/>
                <a:moveTo>
                  <a:pt x="931863" y="571500"/>
                </a:moveTo>
                <a:lnTo>
                  <a:pt x="737791" y="571500"/>
                </a:lnTo>
                <a:cubicBezTo>
                  <a:pt x="695722" y="571500"/>
                  <a:pt x="657225" y="547688"/>
                  <a:pt x="638373" y="509984"/>
                </a:cubicBezTo>
                <a:lnTo>
                  <a:pt x="635000" y="503238"/>
                </a:lnTo>
                <a:lnTo>
                  <a:pt x="550664" y="672108"/>
                </a:lnTo>
                <a:cubicBezTo>
                  <a:pt x="542528" y="688578"/>
                  <a:pt x="525463" y="698897"/>
                  <a:pt x="507008" y="698500"/>
                </a:cubicBezTo>
                <a:cubicBezTo>
                  <a:pt x="488553" y="698103"/>
                  <a:pt x="472083" y="687189"/>
                  <a:pt x="464542" y="670520"/>
                </a:cubicBezTo>
                <a:lnTo>
                  <a:pt x="366713" y="453231"/>
                </a:lnTo>
                <a:lnTo>
                  <a:pt x="345877" y="503237"/>
                </a:lnTo>
                <a:cubicBezTo>
                  <a:pt x="328613" y="544711"/>
                  <a:pt x="288131" y="571698"/>
                  <a:pt x="243284" y="571698"/>
                </a:cubicBezTo>
                <a:lnTo>
                  <a:pt x="84138" y="571698"/>
                </a:lnTo>
                <a:cubicBezTo>
                  <a:pt x="177800" y="718145"/>
                  <a:pt x="328216" y="852884"/>
                  <a:pt x="422275" y="924719"/>
                </a:cubicBezTo>
                <a:cubicBezTo>
                  <a:pt x="446881" y="943372"/>
                  <a:pt x="477044" y="952698"/>
                  <a:pt x="507802" y="952698"/>
                </a:cubicBezTo>
                <a:cubicBezTo>
                  <a:pt x="538559" y="952698"/>
                  <a:pt x="568920" y="943570"/>
                  <a:pt x="593328" y="924719"/>
                </a:cubicBezTo>
                <a:cubicBezTo>
                  <a:pt x="687784" y="852686"/>
                  <a:pt x="838200" y="717947"/>
                  <a:pt x="931863" y="571500"/>
                </a:cubicBezTo>
                <a:close/>
              </a:path>
            </a:pathLst>
          </a:custGeom>
          <a:solidFill>
            <a:srgbClr val="2563EB">
              <a:alpha val="823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0" y="482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8594" y="83344"/>
                </a:moveTo>
                <a:cubicBezTo>
                  <a:pt x="178594" y="37356"/>
                  <a:pt x="215950" y="0"/>
                  <a:pt x="261938" y="0"/>
                </a:cubicBezTo>
                <a:lnTo>
                  <a:pt x="297656" y="0"/>
                </a:lnTo>
                <a:cubicBezTo>
                  <a:pt x="323999" y="0"/>
                  <a:pt x="345281" y="21282"/>
                  <a:pt x="345281" y="47625"/>
                </a:cubicBezTo>
                <a:lnTo>
                  <a:pt x="345281" y="714375"/>
                </a:lnTo>
                <a:cubicBezTo>
                  <a:pt x="345281" y="740718"/>
                  <a:pt x="323999" y="762000"/>
                  <a:pt x="297656" y="762000"/>
                </a:cubicBezTo>
                <a:lnTo>
                  <a:pt x="250031" y="762000"/>
                </a:lnTo>
                <a:cubicBezTo>
                  <a:pt x="205680" y="762000"/>
                  <a:pt x="168325" y="731639"/>
                  <a:pt x="157758" y="690563"/>
                </a:cubicBezTo>
                <a:cubicBezTo>
                  <a:pt x="156716" y="690563"/>
                  <a:pt x="155823" y="690563"/>
                  <a:pt x="154781" y="690563"/>
                </a:cubicBezTo>
                <a:cubicBezTo>
                  <a:pt x="88999" y="690563"/>
                  <a:pt x="35719" y="637282"/>
                  <a:pt x="35719" y="571500"/>
                </a:cubicBezTo>
                <a:cubicBezTo>
                  <a:pt x="35719" y="544711"/>
                  <a:pt x="44648" y="520005"/>
                  <a:pt x="59531" y="500063"/>
                </a:cubicBezTo>
                <a:cubicBezTo>
                  <a:pt x="30659" y="478334"/>
                  <a:pt x="11906" y="443805"/>
                  <a:pt x="11906" y="404813"/>
                </a:cubicBezTo>
                <a:cubicBezTo>
                  <a:pt x="11906" y="358825"/>
                  <a:pt x="38100" y="318790"/>
                  <a:pt x="76200" y="298996"/>
                </a:cubicBezTo>
                <a:cubicBezTo>
                  <a:pt x="65633" y="281136"/>
                  <a:pt x="59531" y="260300"/>
                  <a:pt x="59531" y="238125"/>
                </a:cubicBezTo>
                <a:cubicBezTo>
                  <a:pt x="59531" y="172343"/>
                  <a:pt x="112812" y="119063"/>
                  <a:pt x="178594" y="119063"/>
                </a:cubicBezTo>
                <a:lnTo>
                  <a:pt x="178594" y="83344"/>
                </a:lnTo>
                <a:close/>
                <a:moveTo>
                  <a:pt x="583406" y="83344"/>
                </a:moveTo>
                <a:lnTo>
                  <a:pt x="583406" y="119063"/>
                </a:lnTo>
                <a:cubicBezTo>
                  <a:pt x="649188" y="119063"/>
                  <a:pt x="702469" y="172343"/>
                  <a:pt x="702469" y="238125"/>
                </a:cubicBezTo>
                <a:cubicBezTo>
                  <a:pt x="702469" y="260449"/>
                  <a:pt x="696367" y="281285"/>
                  <a:pt x="685800" y="298996"/>
                </a:cubicBezTo>
                <a:cubicBezTo>
                  <a:pt x="724049" y="318790"/>
                  <a:pt x="750094" y="358676"/>
                  <a:pt x="750094" y="404813"/>
                </a:cubicBezTo>
                <a:cubicBezTo>
                  <a:pt x="750094" y="443805"/>
                  <a:pt x="731341" y="478334"/>
                  <a:pt x="702469" y="500063"/>
                </a:cubicBezTo>
                <a:cubicBezTo>
                  <a:pt x="717352" y="520005"/>
                  <a:pt x="726281" y="544711"/>
                  <a:pt x="726281" y="571500"/>
                </a:cubicBezTo>
                <a:cubicBezTo>
                  <a:pt x="726281" y="637282"/>
                  <a:pt x="673001" y="690563"/>
                  <a:pt x="607219" y="690563"/>
                </a:cubicBezTo>
                <a:cubicBezTo>
                  <a:pt x="606177" y="690563"/>
                  <a:pt x="605284" y="690563"/>
                  <a:pt x="604242" y="690563"/>
                </a:cubicBezTo>
                <a:cubicBezTo>
                  <a:pt x="593675" y="731639"/>
                  <a:pt x="556320" y="762000"/>
                  <a:pt x="511969" y="762000"/>
                </a:cubicBezTo>
                <a:lnTo>
                  <a:pt x="464344" y="762000"/>
                </a:lnTo>
                <a:cubicBezTo>
                  <a:pt x="438001" y="762000"/>
                  <a:pt x="416719" y="740718"/>
                  <a:pt x="416719" y="714375"/>
                </a:cubicBezTo>
                <a:lnTo>
                  <a:pt x="416719" y="47625"/>
                </a:lnTo>
                <a:cubicBezTo>
                  <a:pt x="416719" y="21282"/>
                  <a:pt x="438001" y="0"/>
                  <a:pt x="464344" y="0"/>
                </a:cubicBezTo>
                <a:lnTo>
                  <a:pt x="500063" y="0"/>
                </a:lnTo>
                <a:cubicBezTo>
                  <a:pt x="546050" y="0"/>
                  <a:pt x="583406" y="37356"/>
                  <a:pt x="583406" y="83344"/>
                </a:cubicBezTo>
                <a:close/>
              </a:path>
            </a:pathLst>
          </a:custGeom>
          <a:solidFill>
            <a:srgbClr val="14B8A6">
              <a:alpha val="823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63375" y="2286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0" y="79375"/>
                </a:moveTo>
                <a:cubicBezTo>
                  <a:pt x="0" y="35595"/>
                  <a:pt x="35595" y="0"/>
                  <a:pt x="79375" y="0"/>
                </a:cubicBezTo>
                <a:lnTo>
                  <a:pt x="264790" y="0"/>
                </a:lnTo>
                <a:cubicBezTo>
                  <a:pt x="285874" y="0"/>
                  <a:pt x="306090" y="8310"/>
                  <a:pt x="320973" y="23192"/>
                </a:cubicBezTo>
                <a:lnTo>
                  <a:pt x="453058" y="155401"/>
                </a:lnTo>
                <a:cubicBezTo>
                  <a:pt x="467940" y="170284"/>
                  <a:pt x="476250" y="190500"/>
                  <a:pt x="476250" y="211584"/>
                </a:cubicBezTo>
                <a:lnTo>
                  <a:pt x="476250" y="555625"/>
                </a:lnTo>
                <a:cubicBezTo>
                  <a:pt x="476250" y="599405"/>
                  <a:pt x="440655" y="635000"/>
                  <a:pt x="396875" y="635000"/>
                </a:cubicBezTo>
                <a:lnTo>
                  <a:pt x="79375" y="635000"/>
                </a:lnTo>
                <a:cubicBezTo>
                  <a:pt x="35595" y="635000"/>
                  <a:pt x="0" y="599405"/>
                  <a:pt x="0" y="555625"/>
                </a:cubicBezTo>
                <a:lnTo>
                  <a:pt x="0" y="79375"/>
                </a:lnTo>
                <a:close/>
                <a:moveTo>
                  <a:pt x="257969" y="72554"/>
                </a:moveTo>
                <a:lnTo>
                  <a:pt x="257969" y="188516"/>
                </a:lnTo>
                <a:cubicBezTo>
                  <a:pt x="257969" y="205011"/>
                  <a:pt x="271239" y="218281"/>
                  <a:pt x="287734" y="218281"/>
                </a:cubicBezTo>
                <a:lnTo>
                  <a:pt x="403696" y="218281"/>
                </a:lnTo>
                <a:lnTo>
                  <a:pt x="257969" y="72554"/>
                </a:lnTo>
                <a:close/>
                <a:moveTo>
                  <a:pt x="198438" y="347266"/>
                </a:moveTo>
                <a:lnTo>
                  <a:pt x="198438" y="396875"/>
                </a:lnTo>
                <a:lnTo>
                  <a:pt x="148828" y="396875"/>
                </a:lnTo>
                <a:cubicBezTo>
                  <a:pt x="137914" y="396875"/>
                  <a:pt x="128984" y="405805"/>
                  <a:pt x="128984" y="416719"/>
                </a:cubicBezTo>
                <a:lnTo>
                  <a:pt x="128984" y="456406"/>
                </a:lnTo>
                <a:cubicBezTo>
                  <a:pt x="128984" y="467320"/>
                  <a:pt x="137914" y="476250"/>
                  <a:pt x="148828" y="476250"/>
                </a:cubicBezTo>
                <a:lnTo>
                  <a:pt x="198438" y="476250"/>
                </a:lnTo>
                <a:lnTo>
                  <a:pt x="198438" y="525859"/>
                </a:lnTo>
                <a:cubicBezTo>
                  <a:pt x="198438" y="536773"/>
                  <a:pt x="207367" y="545703"/>
                  <a:pt x="218281" y="545703"/>
                </a:cubicBezTo>
                <a:lnTo>
                  <a:pt x="257969" y="545703"/>
                </a:lnTo>
                <a:cubicBezTo>
                  <a:pt x="268883" y="545703"/>
                  <a:pt x="277813" y="536773"/>
                  <a:pt x="277813" y="525859"/>
                </a:cubicBezTo>
                <a:lnTo>
                  <a:pt x="277813" y="476250"/>
                </a:lnTo>
                <a:lnTo>
                  <a:pt x="327422" y="476250"/>
                </a:lnTo>
                <a:cubicBezTo>
                  <a:pt x="338336" y="476250"/>
                  <a:pt x="347266" y="467320"/>
                  <a:pt x="347266" y="456406"/>
                </a:cubicBezTo>
                <a:lnTo>
                  <a:pt x="347266" y="416719"/>
                </a:lnTo>
                <a:cubicBezTo>
                  <a:pt x="347266" y="405805"/>
                  <a:pt x="338336" y="396875"/>
                  <a:pt x="327422" y="396875"/>
                </a:cubicBezTo>
                <a:lnTo>
                  <a:pt x="277813" y="396875"/>
                </a:lnTo>
                <a:lnTo>
                  <a:pt x="277813" y="347266"/>
                </a:lnTo>
                <a:cubicBezTo>
                  <a:pt x="277813" y="336352"/>
                  <a:pt x="268883" y="327422"/>
                  <a:pt x="257969" y="327422"/>
                </a:cubicBezTo>
                <a:lnTo>
                  <a:pt x="218281" y="327422"/>
                </a:lnTo>
                <a:cubicBezTo>
                  <a:pt x="207367" y="327422"/>
                  <a:pt x="198438" y="336352"/>
                  <a:pt x="198438" y="347266"/>
                </a:cubicBezTo>
                <a:close/>
              </a:path>
            </a:pathLst>
          </a:custGeom>
          <a:solidFill>
            <a:srgbClr val="2563EB">
              <a:alpha val="6275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17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teams are stuck between patient care and paperwork.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572000" cy="2159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730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9500" y="3492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Lost to notes, summaries, referrals, and follow-ups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9685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3300" y="2222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1920" y="23733"/>
                </a:moveTo>
                <a:lnTo>
                  <a:pt x="134620" y="6826"/>
                </a:lnTo>
                <a:cubicBezTo>
                  <a:pt x="137795" y="2540"/>
                  <a:pt x="142875" y="0"/>
                  <a:pt x="148193" y="0"/>
                </a:cubicBezTo>
                <a:cubicBezTo>
                  <a:pt x="157480" y="0"/>
                  <a:pt x="165100" y="7620"/>
                  <a:pt x="165100" y="16907"/>
                </a:cubicBezTo>
                <a:lnTo>
                  <a:pt x="165100" y="34449"/>
                </a:lnTo>
                <a:cubicBezTo>
                  <a:pt x="165100" y="44847"/>
                  <a:pt x="169386" y="54848"/>
                  <a:pt x="176927" y="61992"/>
                </a:cubicBezTo>
                <a:lnTo>
                  <a:pt x="244158" y="126206"/>
                </a:lnTo>
                <a:cubicBezTo>
                  <a:pt x="282892" y="163195"/>
                  <a:pt x="304800" y="214471"/>
                  <a:pt x="304800" y="268049"/>
                </a:cubicBezTo>
                <a:cubicBezTo>
                  <a:pt x="304800" y="344488"/>
                  <a:pt x="242888" y="406400"/>
                  <a:pt x="166449" y="406400"/>
                </a:cubicBezTo>
                <a:lnTo>
                  <a:pt x="152400" y="406400"/>
                </a:lnTo>
                <a:cubicBezTo>
                  <a:pt x="68263" y="406400"/>
                  <a:pt x="0" y="338138"/>
                  <a:pt x="0" y="254000"/>
                </a:cubicBezTo>
                <a:lnTo>
                  <a:pt x="0" y="250984"/>
                </a:lnTo>
                <a:cubicBezTo>
                  <a:pt x="0" y="212249"/>
                  <a:pt x="15399" y="175101"/>
                  <a:pt x="42783" y="147717"/>
                </a:cubicBezTo>
                <a:lnTo>
                  <a:pt x="45561" y="144939"/>
                </a:lnTo>
                <a:cubicBezTo>
                  <a:pt x="48895" y="141605"/>
                  <a:pt x="53499" y="139700"/>
                  <a:pt x="58261" y="139700"/>
                </a:cubicBezTo>
                <a:cubicBezTo>
                  <a:pt x="68183" y="139700"/>
                  <a:pt x="76200" y="147717"/>
                  <a:pt x="76200" y="157639"/>
                </a:cubicBezTo>
                <a:lnTo>
                  <a:pt x="76200" y="228600"/>
                </a:lnTo>
                <a:cubicBezTo>
                  <a:pt x="76200" y="256619"/>
                  <a:pt x="98981" y="279400"/>
                  <a:pt x="127000" y="279400"/>
                </a:cubicBezTo>
                <a:cubicBezTo>
                  <a:pt x="155019" y="279400"/>
                  <a:pt x="177800" y="256619"/>
                  <a:pt x="177800" y="228600"/>
                </a:cubicBezTo>
                <a:lnTo>
                  <a:pt x="177800" y="225504"/>
                </a:lnTo>
                <a:cubicBezTo>
                  <a:pt x="177800" y="211217"/>
                  <a:pt x="172085" y="197485"/>
                  <a:pt x="162004" y="187404"/>
                </a:cubicBezTo>
                <a:lnTo>
                  <a:pt x="131366" y="156766"/>
                </a:lnTo>
                <a:cubicBezTo>
                  <a:pt x="112316" y="137716"/>
                  <a:pt x="101600" y="111760"/>
                  <a:pt x="101600" y="84773"/>
                </a:cubicBezTo>
                <a:cubicBezTo>
                  <a:pt x="101600" y="62786"/>
                  <a:pt x="108744" y="41275"/>
                  <a:pt x="121920" y="23733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730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32500" y="3492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documentation creates gaps, delays, and inconsistent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968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60100" y="222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177800"/>
                </a:moveTo>
                <a:cubicBezTo>
                  <a:pt x="76200" y="93688"/>
                  <a:pt x="144488" y="25400"/>
                  <a:pt x="228600" y="25400"/>
                </a:cubicBezTo>
                <a:cubicBezTo>
                  <a:pt x="312712" y="25400"/>
                  <a:pt x="381000" y="93688"/>
                  <a:pt x="381000" y="177800"/>
                </a:cubicBezTo>
                <a:cubicBezTo>
                  <a:pt x="381000" y="261912"/>
                  <a:pt x="312712" y="330200"/>
                  <a:pt x="228600" y="330200"/>
                </a:cubicBezTo>
                <a:cubicBezTo>
                  <a:pt x="144488" y="330200"/>
                  <a:pt x="76200" y="261912"/>
                  <a:pt x="76200" y="177800"/>
                </a:cubicBezTo>
                <a:close/>
                <a:moveTo>
                  <a:pt x="215900" y="104775"/>
                </a:moveTo>
                <a:lnTo>
                  <a:pt x="215900" y="107950"/>
                </a:lnTo>
                <a:cubicBezTo>
                  <a:pt x="193040" y="108188"/>
                  <a:pt x="174625" y="126762"/>
                  <a:pt x="174625" y="149622"/>
                </a:cubicBezTo>
                <a:cubicBezTo>
                  <a:pt x="174625" y="170021"/>
                  <a:pt x="189309" y="187404"/>
                  <a:pt x="209471" y="190738"/>
                </a:cubicBezTo>
                <a:lnTo>
                  <a:pt x="242570" y="196294"/>
                </a:lnTo>
                <a:cubicBezTo>
                  <a:pt x="247332" y="197088"/>
                  <a:pt x="250825" y="201216"/>
                  <a:pt x="250825" y="206058"/>
                </a:cubicBezTo>
                <a:cubicBezTo>
                  <a:pt x="250825" y="211534"/>
                  <a:pt x="246380" y="215979"/>
                  <a:pt x="240903" y="215979"/>
                </a:cubicBezTo>
                <a:lnTo>
                  <a:pt x="196850" y="215900"/>
                </a:lnTo>
                <a:cubicBezTo>
                  <a:pt x="188119" y="215900"/>
                  <a:pt x="180975" y="223044"/>
                  <a:pt x="180975" y="231775"/>
                </a:cubicBezTo>
                <a:cubicBezTo>
                  <a:pt x="180975" y="240506"/>
                  <a:pt x="188119" y="247650"/>
                  <a:pt x="196850" y="247650"/>
                </a:cubicBezTo>
                <a:lnTo>
                  <a:pt x="215900" y="247650"/>
                </a:lnTo>
                <a:lnTo>
                  <a:pt x="215900" y="250825"/>
                </a:lnTo>
                <a:cubicBezTo>
                  <a:pt x="215900" y="259556"/>
                  <a:pt x="223044" y="266700"/>
                  <a:pt x="231775" y="266700"/>
                </a:cubicBezTo>
                <a:cubicBezTo>
                  <a:pt x="240506" y="266700"/>
                  <a:pt x="247650" y="259556"/>
                  <a:pt x="247650" y="250825"/>
                </a:cubicBezTo>
                <a:lnTo>
                  <a:pt x="247650" y="247094"/>
                </a:lnTo>
                <a:cubicBezTo>
                  <a:pt x="267494" y="243840"/>
                  <a:pt x="282575" y="226695"/>
                  <a:pt x="282575" y="205978"/>
                </a:cubicBezTo>
                <a:cubicBezTo>
                  <a:pt x="282575" y="185579"/>
                  <a:pt x="267891" y="168196"/>
                  <a:pt x="247729" y="164862"/>
                </a:cubicBezTo>
                <a:lnTo>
                  <a:pt x="214630" y="159306"/>
                </a:lnTo>
                <a:cubicBezTo>
                  <a:pt x="209868" y="158512"/>
                  <a:pt x="206375" y="154384"/>
                  <a:pt x="206375" y="149542"/>
                </a:cubicBezTo>
                <a:cubicBezTo>
                  <a:pt x="206375" y="144066"/>
                  <a:pt x="210820" y="139621"/>
                  <a:pt x="216297" y="139621"/>
                </a:cubicBezTo>
                <a:lnTo>
                  <a:pt x="254000" y="139621"/>
                </a:lnTo>
                <a:cubicBezTo>
                  <a:pt x="262731" y="139621"/>
                  <a:pt x="269875" y="132477"/>
                  <a:pt x="269875" y="123746"/>
                </a:cubicBezTo>
                <a:cubicBezTo>
                  <a:pt x="269875" y="115014"/>
                  <a:pt x="262731" y="107871"/>
                  <a:pt x="254000" y="107871"/>
                </a:cubicBezTo>
                <a:lnTo>
                  <a:pt x="247650" y="107871"/>
                </a:lnTo>
                <a:lnTo>
                  <a:pt x="247650" y="104696"/>
                </a:lnTo>
                <a:cubicBezTo>
                  <a:pt x="247650" y="95964"/>
                  <a:pt x="240506" y="88821"/>
                  <a:pt x="231775" y="88821"/>
                </a:cubicBezTo>
                <a:cubicBezTo>
                  <a:pt x="223044" y="88821"/>
                  <a:pt x="215900" y="95964"/>
                  <a:pt x="215900" y="104696"/>
                </a:cubicBezTo>
                <a:close/>
                <a:moveTo>
                  <a:pt x="38100" y="273050"/>
                </a:moveTo>
                <a:lnTo>
                  <a:pt x="38100" y="355600"/>
                </a:lnTo>
                <a:cubicBezTo>
                  <a:pt x="38100" y="362585"/>
                  <a:pt x="43815" y="368300"/>
                  <a:pt x="50800" y="368300"/>
                </a:cubicBezTo>
                <a:lnTo>
                  <a:pt x="406400" y="368300"/>
                </a:lnTo>
                <a:cubicBezTo>
                  <a:pt x="413385" y="368300"/>
                  <a:pt x="419100" y="362585"/>
                  <a:pt x="419100" y="355600"/>
                </a:cubicBezTo>
                <a:lnTo>
                  <a:pt x="419100" y="273050"/>
                </a:lnTo>
                <a:cubicBezTo>
                  <a:pt x="419100" y="262493"/>
                  <a:pt x="427593" y="254000"/>
                  <a:pt x="438150" y="254000"/>
                </a:cubicBezTo>
                <a:cubicBezTo>
                  <a:pt x="448707" y="254000"/>
                  <a:pt x="457200" y="262493"/>
                  <a:pt x="457200" y="273050"/>
                </a:cubicBezTo>
                <a:lnTo>
                  <a:pt x="457200" y="355600"/>
                </a:lnTo>
                <a:cubicBezTo>
                  <a:pt x="457200" y="383619"/>
                  <a:pt x="434419" y="406400"/>
                  <a:pt x="406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273050"/>
                </a:lnTo>
                <a:cubicBezTo>
                  <a:pt x="0" y="262493"/>
                  <a:pt x="8493" y="254000"/>
                  <a:pt x="19050" y="254000"/>
                </a:cubicBezTo>
                <a:cubicBezTo>
                  <a:pt x="29607" y="254000"/>
                  <a:pt x="38100" y="262493"/>
                  <a:pt x="38100" y="2730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85500" y="27305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Burnout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985500" y="3492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Clinicians carry work home after the consultation ends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08500"/>
            <a:ext cx="14732000" cy="393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0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70000" y="5334000"/>
            <a:ext cx="1371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Documentation competes with face-to-face care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Unstructured notes slow handoffs and reviews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 clinics lack the budget for human scribes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Generic transcription still leaves clinicians doing the clinical thinking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result: slower care, tired clinicians, and records that are harder to trust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8699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Hackathon insight: reduce documentation effort without removing clinician oversight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2563EB">
              <a:alpha val="705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8050" y="1752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66675" y="66675"/>
                </a:moveTo>
                <a:cubicBezTo>
                  <a:pt x="66675" y="29865"/>
                  <a:pt x="96540" y="0"/>
                  <a:pt x="133350" y="0"/>
                </a:cubicBezTo>
                <a:cubicBezTo>
                  <a:pt x="168285" y="0"/>
                  <a:pt x="196969" y="26878"/>
                  <a:pt x="199817" y="61119"/>
                </a:cubicBezTo>
                <a:lnTo>
                  <a:pt x="161131" y="61119"/>
                </a:lnTo>
                <a:cubicBezTo>
                  <a:pt x="151894" y="61119"/>
                  <a:pt x="144463" y="68550"/>
                  <a:pt x="144463" y="77788"/>
                </a:cubicBezTo>
                <a:cubicBezTo>
                  <a:pt x="144463" y="87025"/>
                  <a:pt x="151894" y="94456"/>
                  <a:pt x="161131" y="94456"/>
                </a:cubicBezTo>
                <a:lnTo>
                  <a:pt x="200025" y="94456"/>
                </a:lnTo>
                <a:lnTo>
                  <a:pt x="200025" y="127794"/>
                </a:lnTo>
                <a:lnTo>
                  <a:pt x="161131" y="127794"/>
                </a:lnTo>
                <a:cubicBezTo>
                  <a:pt x="151894" y="127794"/>
                  <a:pt x="144463" y="135225"/>
                  <a:pt x="144463" y="144463"/>
                </a:cubicBezTo>
                <a:cubicBezTo>
                  <a:pt x="144463" y="153700"/>
                  <a:pt x="151894" y="161131"/>
                  <a:pt x="161131" y="161131"/>
                </a:cubicBezTo>
                <a:lnTo>
                  <a:pt x="199817" y="161131"/>
                </a:lnTo>
                <a:cubicBezTo>
                  <a:pt x="196969" y="195372"/>
                  <a:pt x="168354" y="222250"/>
                  <a:pt x="133350" y="222250"/>
                </a:cubicBezTo>
                <a:cubicBezTo>
                  <a:pt x="96540" y="222250"/>
                  <a:pt x="66675" y="192385"/>
                  <a:pt x="66675" y="155575"/>
                </a:cubicBezTo>
                <a:lnTo>
                  <a:pt x="66675" y="66675"/>
                </a:lnTo>
                <a:close/>
                <a:moveTo>
                  <a:pt x="16669" y="111125"/>
                </a:moveTo>
                <a:cubicBezTo>
                  <a:pt x="25906" y="111125"/>
                  <a:pt x="33337" y="118556"/>
                  <a:pt x="33337" y="127794"/>
                </a:cubicBezTo>
                <a:lnTo>
                  <a:pt x="33337" y="155575"/>
                </a:lnTo>
                <a:cubicBezTo>
                  <a:pt x="33337" y="210790"/>
                  <a:pt x="78135" y="255587"/>
                  <a:pt x="133350" y="255587"/>
                </a:cubicBezTo>
                <a:cubicBezTo>
                  <a:pt x="188565" y="255587"/>
                  <a:pt x="233363" y="210790"/>
                  <a:pt x="233363" y="155575"/>
                </a:cubicBezTo>
                <a:lnTo>
                  <a:pt x="233363" y="127794"/>
                </a:lnTo>
                <a:cubicBezTo>
                  <a:pt x="233363" y="118556"/>
                  <a:pt x="240794" y="111125"/>
                  <a:pt x="250031" y="111125"/>
                </a:cubicBezTo>
                <a:cubicBezTo>
                  <a:pt x="259269" y="111125"/>
                  <a:pt x="266700" y="118556"/>
                  <a:pt x="266700" y="127794"/>
                </a:cubicBezTo>
                <a:lnTo>
                  <a:pt x="266700" y="155575"/>
                </a:lnTo>
                <a:cubicBezTo>
                  <a:pt x="266700" y="223570"/>
                  <a:pt x="215791" y="279688"/>
                  <a:pt x="150019" y="287883"/>
                </a:cubicBezTo>
                <a:lnTo>
                  <a:pt x="150019" y="322263"/>
                </a:lnTo>
                <a:lnTo>
                  <a:pt x="183356" y="322263"/>
                </a:lnTo>
                <a:cubicBezTo>
                  <a:pt x="192594" y="322263"/>
                  <a:pt x="200025" y="329694"/>
                  <a:pt x="200025" y="338931"/>
                </a:cubicBezTo>
                <a:cubicBezTo>
                  <a:pt x="200025" y="348169"/>
                  <a:pt x="192594" y="355600"/>
                  <a:pt x="183356" y="355600"/>
                </a:cubicBezTo>
                <a:lnTo>
                  <a:pt x="83344" y="355600"/>
                </a:lnTo>
                <a:cubicBezTo>
                  <a:pt x="74106" y="355600"/>
                  <a:pt x="66675" y="348169"/>
                  <a:pt x="66675" y="338931"/>
                </a:cubicBezTo>
                <a:cubicBezTo>
                  <a:pt x="66675" y="329694"/>
                  <a:pt x="74106" y="322263"/>
                  <a:pt x="83344" y="322263"/>
                </a:cubicBezTo>
                <a:lnTo>
                  <a:pt x="116681" y="322263"/>
                </a:lnTo>
                <a:lnTo>
                  <a:pt x="116681" y="287883"/>
                </a:lnTo>
                <a:cubicBezTo>
                  <a:pt x="50909" y="279688"/>
                  <a:pt x="0" y="223570"/>
                  <a:pt x="0" y="155575"/>
                </a:cubicBezTo>
                <a:lnTo>
                  <a:pt x="0" y="127794"/>
                </a:lnTo>
                <a:cubicBezTo>
                  <a:pt x="0" y="118556"/>
                  <a:pt x="7431" y="111125"/>
                  <a:pt x="16669" y="11112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651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AfiyaPulse is an AI documentation co-pilot for the full consultation workflow.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0574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Patient Context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2563EB">
              <a:alpha val="7059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8050" y="3149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111125" y="194469"/>
                </a:moveTo>
                <a:lnTo>
                  <a:pt x="111125" y="222250"/>
                </a:lnTo>
                <a:lnTo>
                  <a:pt x="83344" y="222250"/>
                </a:lnTo>
                <a:cubicBezTo>
                  <a:pt x="77232" y="222250"/>
                  <a:pt x="72231" y="227251"/>
                  <a:pt x="72231" y="233363"/>
                </a:cubicBezTo>
                <a:lnTo>
                  <a:pt x="72231" y="255587"/>
                </a:lnTo>
                <a:cubicBezTo>
                  <a:pt x="72231" y="261699"/>
                  <a:pt x="77232" y="266700"/>
                  <a:pt x="83344" y="266700"/>
                </a:cubicBezTo>
                <a:lnTo>
                  <a:pt x="111125" y="266700"/>
                </a:lnTo>
                <a:lnTo>
                  <a:pt x="111125" y="294481"/>
                </a:lnTo>
                <a:cubicBezTo>
                  <a:pt x="111125" y="300593"/>
                  <a:pt x="116126" y="305594"/>
                  <a:pt x="122238" y="305594"/>
                </a:cubicBezTo>
                <a:lnTo>
                  <a:pt x="144463" y="305594"/>
                </a:lnTo>
                <a:cubicBezTo>
                  <a:pt x="150574" y="305594"/>
                  <a:pt x="155575" y="300593"/>
                  <a:pt x="155575" y="294481"/>
                </a:cubicBezTo>
                <a:lnTo>
                  <a:pt x="155575" y="266700"/>
                </a:lnTo>
                <a:lnTo>
                  <a:pt x="183356" y="266700"/>
                </a:lnTo>
                <a:cubicBezTo>
                  <a:pt x="189468" y="266700"/>
                  <a:pt x="194469" y="261699"/>
                  <a:pt x="194469" y="255587"/>
                </a:cubicBezTo>
                <a:lnTo>
                  <a:pt x="194469" y="233363"/>
                </a:lnTo>
                <a:cubicBezTo>
                  <a:pt x="194469" y="227251"/>
                  <a:pt x="189468" y="222250"/>
                  <a:pt x="183356" y="222250"/>
                </a:cubicBezTo>
                <a:lnTo>
                  <a:pt x="155575" y="222250"/>
                </a:lnTo>
                <a:lnTo>
                  <a:pt x="155575" y="194469"/>
                </a:lnTo>
                <a:cubicBezTo>
                  <a:pt x="155575" y="188357"/>
                  <a:pt x="150574" y="183356"/>
                  <a:pt x="144463" y="183356"/>
                </a:cubicBezTo>
                <a:lnTo>
                  <a:pt x="122238" y="183356"/>
                </a:lnTo>
                <a:cubicBezTo>
                  <a:pt x="116126" y="183356"/>
                  <a:pt x="111125" y="188357"/>
                  <a:pt x="111125" y="194469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048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patient records, demographics, history, and consultation context in one workspace.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24000" y="34544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Ambient Capture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4450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2563EB">
              <a:alpha val="705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5825" y="454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44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or transcribe the visit so clinicians can stay focused on the conversation.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24000" y="48514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Clinical Agents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8420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14B8A6">
              <a:alpha val="7059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63600" y="594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842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SOAP notes, prescriptions, referrals, and follow-up drafts from the encounter.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24000" y="62484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 Review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74000" y="1651000"/>
            <a:ext cx="7620000" cy="5588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2000" y="1968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Clinicians review, edit, approve, and keep final control before anything is saved.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2476500"/>
            <a:ext cx="3048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3137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36000" y="2667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notes after visits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patient context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684000" y="3048000"/>
            <a:ext cx="508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60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reviews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46000" y="24765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50800" dir="5400000">
              <a:srgbClr val="14b8a6">
                <a:alpha val="1254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700000" y="2667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Drafts generated from the visit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patient workflow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Review-ready documentation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from conversation to approved clinical documentation faster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445000"/>
            <a:ext cx="6604000" cy="1016000"/>
          </a:xfrm>
          <a:prstGeom prst="roundRect">
            <a:avLst>
              <a:gd name="adj" fmla="val 8000"/>
            </a:avLst>
          </a:prstGeom>
          <a:solidFill>
            <a:srgbClr val="14B8A6">
              <a:alpha val="6275"/>
            </a:srgbClr>
          </a:solidFill>
          <a:ln w="12700">
            <a:solidFill>
              <a:srgbClr val="14B8A6">
                <a:alpha val="18824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63000" y="4572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10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041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judges will see in the product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4986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11430000" cy="660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76200" dir="5400000">
              <a:srgbClr val="0f172a">
                <a:alpha val="70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778000"/>
            <a:ext cx="11430000" cy="508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930400"/>
            <a:ext cx="177800" cy="1778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1930400"/>
            <a:ext cx="177800" cy="177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574800" y="1930400"/>
            <a:ext cx="177800" cy="1778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177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AfiyaPulse Web App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2500" y="2476500"/>
            <a:ext cx="3556000" cy="565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6500" y="266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6500" y="3111500"/>
            <a:ext cx="304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 in and land on the clinical dashboard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patient records and search/filter patients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a new consultation and capture visit context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draft clinical documentation for review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 approves outputs in the review panel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9000" y="2476500"/>
            <a:ext cx="4699000" cy="565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3000" y="26670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53000" y="3111500"/>
            <a:ext cx="419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HIGHLIGHTS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analytics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management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Consultation workflow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documentation agents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and approval loop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as a working full-stack prototype, not just a mockup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88500" y="2476500"/>
            <a:ext cx="2413000" cy="565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2500" y="2667000"/>
            <a:ext cx="190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42500" y="3238500"/>
            <a:ext cx="1905000" cy="4572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842500" y="3238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42500" y="3873500"/>
            <a:ext cx="1905000" cy="4572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2500" y="3873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Prisma/PostgreSQL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42500" y="4508500"/>
            <a:ext cx="1905000" cy="4572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2500" y="45085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+ WebSockets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42500" y="5334000"/>
            <a:ext cx="127000" cy="127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6500" y="52705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73000" y="2286000"/>
            <a:ext cx="2921000" cy="889000"/>
          </a:xfrm>
          <a:prstGeom prst="roundRect">
            <a:avLst>
              <a:gd name="adj" fmla="val 10000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2549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46050" y="254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1500" y="24765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10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573000" y="3429000"/>
            <a:ext cx="2921000" cy="889000"/>
          </a:xfrm>
          <a:prstGeom prst="roundRect">
            <a:avLst>
              <a:gd name="adj" fmla="val 10000"/>
            </a:avLst>
          </a:prstGeom>
          <a:solidFill>
            <a:srgbClr val="14B8A6">
              <a:alpha val="3137"/>
            </a:srgbClr>
          </a:solidFill>
          <a:ln w="12700">
            <a:solidFill>
              <a:srgbClr val="14B8A6">
                <a:alpha val="12549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65100" y="3683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13271500" y="36195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573000" y="4572000"/>
            <a:ext cx="2921000" cy="889000"/>
          </a:xfrm>
          <a:prstGeom prst="roundRect">
            <a:avLst>
              <a:gd name="adj" fmla="val 10000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2549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65100" y="4826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13271500" y="4762500"/>
            <a:ext cx="20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176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steps from patient conversation to review-ready documentation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2032000" y="5842000"/>
            <a:ext cx="12192000" cy="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2159000"/>
            <a:ext cx="2667000" cy="355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2413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2450" y="2438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0"/>
                </a:moveTo>
                <a:cubicBezTo>
                  <a:pt x="96540" y="0"/>
                  <a:pt x="66675" y="29865"/>
                  <a:pt x="66675" y="66675"/>
                </a:cubicBezTo>
                <a:lnTo>
                  <a:pt x="66675" y="155575"/>
                </a:lnTo>
                <a:cubicBezTo>
                  <a:pt x="66675" y="192385"/>
                  <a:pt x="96540" y="222250"/>
                  <a:pt x="133350" y="222250"/>
                </a:cubicBezTo>
                <a:cubicBezTo>
                  <a:pt x="170160" y="222250"/>
                  <a:pt x="200025" y="192385"/>
                  <a:pt x="200025" y="155575"/>
                </a:cubicBezTo>
                <a:lnTo>
                  <a:pt x="200025" y="66675"/>
                </a:lnTo>
                <a:cubicBezTo>
                  <a:pt x="200025" y="29865"/>
                  <a:pt x="170160" y="0"/>
                  <a:pt x="133350" y="0"/>
                </a:cubicBezTo>
                <a:close/>
                <a:moveTo>
                  <a:pt x="33337" y="127794"/>
                </a:moveTo>
                <a:cubicBezTo>
                  <a:pt x="33337" y="118556"/>
                  <a:pt x="25906" y="111125"/>
                  <a:pt x="16669" y="111125"/>
                </a:cubicBezTo>
                <a:cubicBezTo>
                  <a:pt x="7431" y="111125"/>
                  <a:pt x="0" y="118556"/>
                  <a:pt x="0" y="127794"/>
                </a:cubicBezTo>
                <a:lnTo>
                  <a:pt x="0" y="155575"/>
                </a:lnTo>
                <a:cubicBezTo>
                  <a:pt x="0" y="223570"/>
                  <a:pt x="50909" y="279688"/>
                  <a:pt x="116681" y="287883"/>
                </a:cubicBezTo>
                <a:lnTo>
                  <a:pt x="116681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183356" y="355600"/>
                </a:lnTo>
                <a:cubicBezTo>
                  <a:pt x="192594" y="355600"/>
                  <a:pt x="200025" y="348169"/>
                  <a:pt x="200025" y="338931"/>
                </a:cubicBezTo>
                <a:cubicBezTo>
                  <a:pt x="200025" y="329694"/>
                  <a:pt x="192594" y="322263"/>
                  <a:pt x="183356" y="322263"/>
                </a:cubicBezTo>
                <a:lnTo>
                  <a:pt x="150019" y="322263"/>
                </a:lnTo>
                <a:lnTo>
                  <a:pt x="150019" y="287883"/>
                </a:lnTo>
                <a:cubicBezTo>
                  <a:pt x="215791" y="279688"/>
                  <a:pt x="266700" y="223570"/>
                  <a:pt x="266700" y="155575"/>
                </a:cubicBezTo>
                <a:lnTo>
                  <a:pt x="266700" y="127794"/>
                </a:lnTo>
                <a:cubicBezTo>
                  <a:pt x="266700" y="118556"/>
                  <a:pt x="259269" y="111125"/>
                  <a:pt x="250031" y="111125"/>
                </a:cubicBezTo>
                <a:cubicBezTo>
                  <a:pt x="240794" y="111125"/>
                  <a:pt x="233363" y="118556"/>
                  <a:pt x="233363" y="127794"/>
                </a:cubicBezTo>
                <a:lnTo>
                  <a:pt x="233363" y="155575"/>
                </a:lnTo>
                <a:cubicBezTo>
                  <a:pt x="233363" y="210790"/>
                  <a:pt x="188565" y="255587"/>
                  <a:pt x="133350" y="255587"/>
                </a:cubicBezTo>
                <a:cubicBezTo>
                  <a:pt x="78135" y="255587"/>
                  <a:pt x="33337" y="210790"/>
                  <a:pt x="33337" y="155575"/>
                </a:cubicBezTo>
                <a:lnTo>
                  <a:pt x="33337" y="127794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0480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492500"/>
            <a:ext cx="2159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 starts a consultation and captures visit audio or text context.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92500" y="38100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7000" y="2159000"/>
            <a:ext cx="2667000" cy="355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91000" y="2413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91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3000" y="243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191000" y="30480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Transcribe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91000" y="3492500"/>
            <a:ext cx="2159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 converts the encounter into usable clinical text.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67500" y="38100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2000" y="2159000"/>
            <a:ext cx="2667000" cy="355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6000" y="2413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366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72450" y="2438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66000" y="30480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6000" y="3492500"/>
            <a:ext cx="2159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identifies symptoms, assessment, plan, medications, referrals, and follow-up tasks.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42500" y="38100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87000" y="2159000"/>
            <a:ext cx="2667000" cy="355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541000" y="24130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0541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303000" y="243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1000" y="30480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Draft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41000" y="3492500"/>
            <a:ext cx="2159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agents prepare SOAP notes, prescriptions, referrals, and follow-up suggestions.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017500" y="38100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0" y="2159000"/>
            <a:ext cx="2286000" cy="355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716000" y="24130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4328775" y="2438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00013" y="333375"/>
                </a:moveTo>
                <a:cubicBezTo>
                  <a:pt x="44797" y="333375"/>
                  <a:pt x="0" y="288578"/>
                  <a:pt x="0" y="233363"/>
                </a:cubicBezTo>
                <a:cubicBezTo>
                  <a:pt x="0" y="189329"/>
                  <a:pt x="28476" y="151963"/>
                  <a:pt x="67995" y="138559"/>
                </a:cubicBezTo>
                <a:cubicBezTo>
                  <a:pt x="67092" y="133211"/>
                  <a:pt x="66675" y="127794"/>
                  <a:pt x="66675" y="122238"/>
                </a:cubicBezTo>
                <a:cubicBezTo>
                  <a:pt x="66675" y="67022"/>
                  <a:pt x="111472" y="22225"/>
                  <a:pt x="166688" y="22225"/>
                </a:cubicBezTo>
                <a:cubicBezTo>
                  <a:pt x="205165" y="22225"/>
                  <a:pt x="238571" y="43964"/>
                  <a:pt x="255310" y="75773"/>
                </a:cubicBezTo>
                <a:cubicBezTo>
                  <a:pt x="265172" y="70009"/>
                  <a:pt x="276701" y="66675"/>
                  <a:pt x="288925" y="66675"/>
                </a:cubicBezTo>
                <a:cubicBezTo>
                  <a:pt x="325735" y="66675"/>
                  <a:pt x="355600" y="96540"/>
                  <a:pt x="355600" y="133350"/>
                </a:cubicBezTo>
                <a:cubicBezTo>
                  <a:pt x="355600" y="144254"/>
                  <a:pt x="352961" y="154603"/>
                  <a:pt x="348307" y="163701"/>
                </a:cubicBezTo>
                <a:cubicBezTo>
                  <a:pt x="378867" y="177800"/>
                  <a:pt x="400050" y="208637"/>
                  <a:pt x="400050" y="244475"/>
                </a:cubicBezTo>
                <a:cubicBezTo>
                  <a:pt x="400050" y="293578"/>
                  <a:pt x="360253" y="333375"/>
                  <a:pt x="311150" y="333375"/>
                </a:cubicBezTo>
                <a:lnTo>
                  <a:pt x="100013" y="333375"/>
                </a:lnTo>
                <a:close/>
                <a:moveTo>
                  <a:pt x="211832" y="132655"/>
                </a:moveTo>
                <a:cubicBezTo>
                  <a:pt x="205303" y="126127"/>
                  <a:pt x="194747" y="126127"/>
                  <a:pt x="188287" y="132655"/>
                </a:cubicBezTo>
                <a:lnTo>
                  <a:pt x="138281" y="182662"/>
                </a:lnTo>
                <a:cubicBezTo>
                  <a:pt x="131753" y="189190"/>
                  <a:pt x="131753" y="199747"/>
                  <a:pt x="138281" y="206206"/>
                </a:cubicBezTo>
                <a:cubicBezTo>
                  <a:pt x="144810" y="212665"/>
                  <a:pt x="155367" y="212735"/>
                  <a:pt x="161826" y="206206"/>
                </a:cubicBezTo>
                <a:lnTo>
                  <a:pt x="183356" y="184676"/>
                </a:lnTo>
                <a:lnTo>
                  <a:pt x="183356" y="255587"/>
                </a:lnTo>
                <a:cubicBezTo>
                  <a:pt x="183356" y="264825"/>
                  <a:pt x="190788" y="272256"/>
                  <a:pt x="200025" y="272256"/>
                </a:cubicBezTo>
                <a:cubicBezTo>
                  <a:pt x="209262" y="272256"/>
                  <a:pt x="216694" y="264825"/>
                  <a:pt x="216694" y="255587"/>
                </a:cubicBezTo>
                <a:lnTo>
                  <a:pt x="216694" y="184676"/>
                </a:lnTo>
                <a:lnTo>
                  <a:pt x="238224" y="206206"/>
                </a:lnTo>
                <a:cubicBezTo>
                  <a:pt x="244753" y="212735"/>
                  <a:pt x="255310" y="212735"/>
                  <a:pt x="261769" y="206206"/>
                </a:cubicBezTo>
                <a:cubicBezTo>
                  <a:pt x="268228" y="199678"/>
                  <a:pt x="268297" y="189121"/>
                  <a:pt x="261769" y="182662"/>
                </a:cubicBezTo>
                <a:lnTo>
                  <a:pt x="211763" y="13265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0" y="3048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716000" y="3492500"/>
            <a:ext cx="177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 edits, approves, and saves the final documentation.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6223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70000" y="635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accelerates documentation; clinicians remain accountable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34000" y="6477000"/>
            <a:ext cx="0" cy="508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5842000" y="635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layer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approval before final records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06000" y="6477000"/>
            <a:ext cx="0" cy="508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10414000" y="6350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outcome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consultation workflow in minutes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17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real full-stack clinical documentation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9500" y="2222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603500"/>
            <a:ext cx="393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React, TypeScript, Vite, Tailwind, Zustand, protected routes, dashboard, patients, consultations, review panel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9500" y="3492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968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2500" y="2222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API, authentication, role-aware middleware, rate limiting, WebSocket server, audit-friendly routes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603500"/>
            <a:ext cx="393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32500" y="34925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Prisma models for users, patients, consultations, transcripts, SOAP notes, prescriptions, referrals, appointments, audit logs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9685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85500" y="2222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+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85500" y="2603500"/>
            <a:ext cx="419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 service, LLM service, clinical scribe, prescription drafter, referral writer, follow-up scheduler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985500" y="349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strengths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889500"/>
            <a:ext cx="8890000" cy="330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graphicFrame>
        <p:nvGraphicFramePr>
          <p:cNvPr id="18" name="Chart 0" descr=""/>
          <p:cNvGraphicFramePr/>
          <p:nvPr/>
        </p:nvGraphicFramePr>
        <p:xfrm>
          <a:off x="1016000" y="5080000"/>
          <a:ext cx="8382000" cy="292100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10033000" y="4889500"/>
            <a:ext cx="5461000" cy="330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14000" y="5143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monorepo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414000" y="57150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patient and consultation domain model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Review-before-approval workflow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414000" y="6286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 AI agent layer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integration with EHR/FHIR-style systems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414000" y="68580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10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414000" y="7429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699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4572000" cy="3937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651000"/>
            <a:ext cx="4572000" cy="55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457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AfiyaPulse solves a real pain with a demoable, practical workflow.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Fit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Targets one of the most painful healthcare workflows: documentation after care.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9500" y="32385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Depth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" y="3683000"/>
            <a:ext cx="393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79500" y="3873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frontend UX, secure API, database modeling, transcription, AI agents, and review workflow.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Safety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humans in the loop. AI drafts; clinicians approve.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Agent-based design can expand by specialty, document type, and care setting.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Judge Takeaways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prototype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user journey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651000"/>
            <a:ext cx="4572000" cy="3937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5400000">
              <a:srgbClr val="2563eb">
                <a:alpha val="1254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5000" y="1651000"/>
            <a:ext cx="4572000" cy="558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651000"/>
            <a:ext cx="457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Meaningful healthcare impact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476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Responsible AI approach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032500" y="32385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path from hackathon to pilot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2500" y="3683000"/>
            <a:ext cx="393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032500" y="3873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10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651000"/>
            <a:ext cx="4826000" cy="3937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49000" y="1905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476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3302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4127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588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70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/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64770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6604000"/>
            <a:ext cx="0" cy="1016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953000" y="64770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5000" y="6604000"/>
            <a:ext cx="0" cy="1016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8636000" y="64770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938000" y="6604000"/>
            <a:ext cx="0" cy="1016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2319000" y="6477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3556000"/>
            <a:ext cx="13208000" cy="0"/>
          </a:xfrm>
          <a:prstGeom prst="straightConnector1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540000" y="3429000"/>
            <a:ext cx="254000" cy="254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1524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78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hackathon prototype to clinic-ready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00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387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MVP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04000" y="3429000"/>
            <a:ext cx="254000" cy="254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0" y="1524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42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Authentication, dashboard, patients, consultation flow, review panel, AI agent services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42000" y="200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2387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Readiness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3429000"/>
            <a:ext cx="254000" cy="254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Shape 14"/>
          <p:cNvSpPr/>
          <p:nvPr/>
        </p:nvSpPr>
        <p:spPr>
          <a:xfrm>
            <a:off x="9652000" y="1524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06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transcription reliability, add specialty templates, strengthen testing, polish UX, add admin controls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0" y="200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2387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Integrations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970000" y="3429000"/>
            <a:ext cx="254000" cy="254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12954000" y="1524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208000" y="1651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FHIR/EHR export, structured visit summaries, audit reports, secure deployment, clinic onboarding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08000" y="2006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08000" y="23876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318000"/>
            <a:ext cx="14732000" cy="3810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0000" y="457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language support, offline-friendly workflows, analytics, billing support, clinical decision support guardrails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5143500"/>
            <a:ext cx="431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Milestones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end-to-end demo stability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with real sample consultations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clinician feedback loop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pilot deployment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minutes saved per consultation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9000" y="5143500"/>
            <a:ext cx="431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0" y="5143500"/>
            <a:ext cx="431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4B8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176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AfiyaPulse gives clinicians time back while improving documentation quality.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635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572000" cy="2349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4100" y="222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01600" y="50800"/>
                </a:moveTo>
                <a:cubicBezTo>
                  <a:pt x="101600" y="22781"/>
                  <a:pt x="124381" y="0"/>
                  <a:pt x="152400" y="0"/>
                </a:cubicBezTo>
                <a:lnTo>
                  <a:pt x="304800" y="0"/>
                </a:lnTo>
                <a:cubicBezTo>
                  <a:pt x="332819" y="0"/>
                  <a:pt x="355600" y="22781"/>
                  <a:pt x="355600" y="50800"/>
                </a:cubicBezTo>
                <a:lnTo>
                  <a:pt x="355600" y="101600"/>
                </a:lnTo>
                <a:lnTo>
                  <a:pt x="406400" y="101600"/>
                </a:lnTo>
                <a:cubicBezTo>
                  <a:pt x="434419" y="101600"/>
                  <a:pt x="457200" y="124381"/>
                  <a:pt x="457200" y="152400"/>
                </a:cubicBezTo>
                <a:lnTo>
                  <a:pt x="457200" y="355600"/>
                </a:lnTo>
                <a:cubicBezTo>
                  <a:pt x="457200" y="383619"/>
                  <a:pt x="434419" y="406400"/>
                  <a:pt x="406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52400"/>
                </a:lnTo>
                <a:cubicBezTo>
                  <a:pt x="0" y="124381"/>
                  <a:pt x="22781" y="101600"/>
                  <a:pt x="50800" y="101600"/>
                </a:cubicBezTo>
                <a:lnTo>
                  <a:pt x="101600" y="101600"/>
                </a:lnTo>
                <a:lnTo>
                  <a:pt x="101600" y="50800"/>
                </a:lnTo>
                <a:close/>
                <a:moveTo>
                  <a:pt x="215900" y="279400"/>
                </a:moveTo>
                <a:cubicBezTo>
                  <a:pt x="201851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266700" y="368300"/>
                </a:lnTo>
                <a:lnTo>
                  <a:pt x="266700" y="304800"/>
                </a:lnTo>
                <a:cubicBezTo>
                  <a:pt x="266700" y="290751"/>
                  <a:pt x="255349" y="279400"/>
                  <a:pt x="241300" y="279400"/>
                </a:cubicBezTo>
                <a:lnTo>
                  <a:pt x="215900" y="279400"/>
                </a:lnTo>
                <a:close/>
                <a:moveTo>
                  <a:pt x="101600" y="292100"/>
                </a:moveTo>
                <a:lnTo>
                  <a:pt x="101600" y="266700"/>
                </a:lnTo>
                <a:cubicBezTo>
                  <a:pt x="101600" y="259715"/>
                  <a:pt x="95885" y="254000"/>
                  <a:pt x="88900" y="254000"/>
                </a:cubicBezTo>
                <a:lnTo>
                  <a:pt x="63500" y="254000"/>
                </a:lnTo>
                <a:cubicBezTo>
                  <a:pt x="56515" y="254000"/>
                  <a:pt x="50800" y="259715"/>
                  <a:pt x="50800" y="266700"/>
                </a:cubicBezTo>
                <a:lnTo>
                  <a:pt x="50800" y="292100"/>
                </a:lnTo>
                <a:cubicBezTo>
                  <a:pt x="50800" y="299085"/>
                  <a:pt x="56515" y="304800"/>
                  <a:pt x="63500" y="304800"/>
                </a:cubicBezTo>
                <a:lnTo>
                  <a:pt x="88900" y="304800"/>
                </a:lnTo>
                <a:cubicBezTo>
                  <a:pt x="95885" y="304800"/>
                  <a:pt x="101600" y="299085"/>
                  <a:pt x="101600" y="292100"/>
                </a:cubicBezTo>
                <a:close/>
                <a:moveTo>
                  <a:pt x="88900" y="203200"/>
                </a:moveTo>
                <a:cubicBezTo>
                  <a:pt x="95885" y="203200"/>
                  <a:pt x="101600" y="197485"/>
                  <a:pt x="101600" y="190500"/>
                </a:cubicBezTo>
                <a:lnTo>
                  <a:pt x="101600" y="165100"/>
                </a:lnTo>
                <a:cubicBezTo>
                  <a:pt x="101600" y="15811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58115"/>
                  <a:pt x="50800" y="165100"/>
                </a:cubicBezTo>
                <a:lnTo>
                  <a:pt x="50800" y="190500"/>
                </a:lnTo>
                <a:cubicBezTo>
                  <a:pt x="50800" y="197485"/>
                  <a:pt x="56515" y="203200"/>
                  <a:pt x="63500" y="203200"/>
                </a:cubicBezTo>
                <a:lnTo>
                  <a:pt x="88900" y="203200"/>
                </a:lnTo>
                <a:close/>
                <a:moveTo>
                  <a:pt x="406400" y="292100"/>
                </a:moveTo>
                <a:lnTo>
                  <a:pt x="406400" y="266700"/>
                </a:lnTo>
                <a:cubicBezTo>
                  <a:pt x="406400" y="259715"/>
                  <a:pt x="400685" y="254000"/>
                  <a:pt x="393700" y="254000"/>
                </a:cubicBezTo>
                <a:lnTo>
                  <a:pt x="368300" y="254000"/>
                </a:lnTo>
                <a:cubicBezTo>
                  <a:pt x="361315" y="254000"/>
                  <a:pt x="355600" y="259715"/>
                  <a:pt x="355600" y="266700"/>
                </a:cubicBezTo>
                <a:lnTo>
                  <a:pt x="355600" y="292100"/>
                </a:lnTo>
                <a:cubicBezTo>
                  <a:pt x="355600" y="299085"/>
                  <a:pt x="361315" y="304800"/>
                  <a:pt x="368300" y="304800"/>
                </a:cubicBezTo>
                <a:lnTo>
                  <a:pt x="393700" y="304800"/>
                </a:lnTo>
                <a:cubicBezTo>
                  <a:pt x="400685" y="304800"/>
                  <a:pt x="406400" y="299085"/>
                  <a:pt x="406400" y="292100"/>
                </a:cubicBezTo>
                <a:close/>
                <a:moveTo>
                  <a:pt x="393700" y="203200"/>
                </a:moveTo>
                <a:cubicBezTo>
                  <a:pt x="400685" y="203200"/>
                  <a:pt x="406400" y="197485"/>
                  <a:pt x="406400" y="190500"/>
                </a:cubicBezTo>
                <a:lnTo>
                  <a:pt x="406400" y="165100"/>
                </a:lnTo>
                <a:cubicBezTo>
                  <a:pt x="406400" y="15811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58115"/>
                  <a:pt x="355600" y="165100"/>
                </a:cubicBezTo>
                <a:lnTo>
                  <a:pt x="355600" y="190500"/>
                </a:lnTo>
                <a:cubicBezTo>
                  <a:pt x="355600" y="197485"/>
                  <a:pt x="361315" y="203200"/>
                  <a:pt x="368300" y="203200"/>
                </a:cubicBezTo>
                <a:lnTo>
                  <a:pt x="393700" y="203200"/>
                </a:lnTo>
                <a:close/>
                <a:moveTo>
                  <a:pt x="209550" y="82550"/>
                </a:moveTo>
                <a:lnTo>
                  <a:pt x="209550" y="107950"/>
                </a:lnTo>
                <a:lnTo>
                  <a:pt x="184150" y="107950"/>
                </a:lnTo>
                <a:cubicBezTo>
                  <a:pt x="177165" y="107950"/>
                  <a:pt x="171450" y="113665"/>
                  <a:pt x="171450" y="120650"/>
                </a:cubicBezTo>
                <a:lnTo>
                  <a:pt x="171450" y="133350"/>
                </a:lnTo>
                <a:cubicBezTo>
                  <a:pt x="171450" y="140335"/>
                  <a:pt x="177165" y="146050"/>
                  <a:pt x="184150" y="146050"/>
                </a:cubicBezTo>
                <a:lnTo>
                  <a:pt x="209550" y="146050"/>
                </a:lnTo>
                <a:lnTo>
                  <a:pt x="209550" y="171450"/>
                </a:lnTo>
                <a:cubicBezTo>
                  <a:pt x="209550" y="178435"/>
                  <a:pt x="215265" y="184150"/>
                  <a:pt x="222250" y="184150"/>
                </a:cubicBezTo>
                <a:lnTo>
                  <a:pt x="234950" y="184150"/>
                </a:lnTo>
                <a:cubicBezTo>
                  <a:pt x="241935" y="184150"/>
                  <a:pt x="247650" y="178435"/>
                  <a:pt x="247650" y="171450"/>
                </a:cubicBezTo>
                <a:lnTo>
                  <a:pt x="247650" y="146050"/>
                </a:lnTo>
                <a:lnTo>
                  <a:pt x="273050" y="146050"/>
                </a:lnTo>
                <a:cubicBezTo>
                  <a:pt x="280035" y="146050"/>
                  <a:pt x="285750" y="140335"/>
                  <a:pt x="285750" y="133350"/>
                </a:cubicBezTo>
                <a:lnTo>
                  <a:pt x="285750" y="120650"/>
                </a:lnTo>
                <a:cubicBezTo>
                  <a:pt x="285750" y="113665"/>
                  <a:pt x="280035" y="107950"/>
                  <a:pt x="273050" y="107950"/>
                </a:cubicBezTo>
                <a:lnTo>
                  <a:pt x="247650" y="107950"/>
                </a:lnTo>
                <a:lnTo>
                  <a:pt x="247650" y="82550"/>
                </a:lnTo>
                <a:cubicBezTo>
                  <a:pt x="247650" y="75565"/>
                  <a:pt x="241935" y="69850"/>
                  <a:pt x="234950" y="69850"/>
                </a:cubicBezTo>
                <a:lnTo>
                  <a:pt x="222250" y="69850"/>
                </a:lnTo>
                <a:cubicBezTo>
                  <a:pt x="215265" y="69850"/>
                  <a:pt x="209550" y="75565"/>
                  <a:pt x="209550" y="8255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730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Saved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9500" y="3492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after-visit documentation effort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968500"/>
            <a:ext cx="4572000" cy="2159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57900" y="222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6350"/>
                </a:move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lose/>
                <a:moveTo>
                  <a:pt x="225425" y="254635"/>
                </a:moveTo>
                <a:cubicBezTo>
                  <a:pt x="221139" y="254238"/>
                  <a:pt x="216694" y="254000"/>
                  <a:pt x="212249" y="254000"/>
                </a:cubicBezTo>
                <a:lnTo>
                  <a:pt x="143272" y="254000"/>
                </a:lnTo>
                <a:cubicBezTo>
                  <a:pt x="138827" y="254000"/>
                  <a:pt x="134461" y="254238"/>
                  <a:pt x="130096" y="254635"/>
                </a:cubicBezTo>
                <a:lnTo>
                  <a:pt x="130096" y="308213"/>
                </a:lnTo>
                <a:cubicBezTo>
                  <a:pt x="143192" y="314246"/>
                  <a:pt x="152321" y="327501"/>
                  <a:pt x="152321" y="342821"/>
                </a:cubicBezTo>
                <a:cubicBezTo>
                  <a:pt x="152321" y="363855"/>
                  <a:pt x="135255" y="380921"/>
                  <a:pt x="114221" y="380921"/>
                </a:cubicBezTo>
                <a:cubicBezTo>
                  <a:pt x="93186" y="380921"/>
                  <a:pt x="76121" y="363855"/>
                  <a:pt x="76121" y="342821"/>
                </a:cubicBezTo>
                <a:cubicBezTo>
                  <a:pt x="76121" y="327422"/>
                  <a:pt x="85249" y="314166"/>
                  <a:pt x="98346" y="308213"/>
                </a:cubicBezTo>
                <a:lnTo>
                  <a:pt x="98346" y="261858"/>
                </a:lnTo>
                <a:cubicBezTo>
                  <a:pt x="48419" y="280194"/>
                  <a:pt x="12700" y="328295"/>
                  <a:pt x="12700" y="384651"/>
                </a:cubicBezTo>
                <a:cubicBezTo>
                  <a:pt x="12700" y="396637"/>
                  <a:pt x="22463" y="406400"/>
                  <a:pt x="34449" y="406400"/>
                </a:cubicBezTo>
                <a:lnTo>
                  <a:pt x="321072" y="406400"/>
                </a:lnTo>
                <a:cubicBezTo>
                  <a:pt x="333058" y="406400"/>
                  <a:pt x="342821" y="396637"/>
                  <a:pt x="342821" y="384651"/>
                </a:cubicBezTo>
                <a:cubicBezTo>
                  <a:pt x="342821" y="328295"/>
                  <a:pt x="307102" y="280273"/>
                  <a:pt x="257096" y="261937"/>
                </a:cubicBezTo>
                <a:lnTo>
                  <a:pt x="257096" y="291624"/>
                </a:lnTo>
                <a:cubicBezTo>
                  <a:pt x="275590" y="298132"/>
                  <a:pt x="288846" y="315833"/>
                  <a:pt x="288846" y="336550"/>
                </a:cubicBezTo>
                <a:lnTo>
                  <a:pt x="288846" y="361950"/>
                </a:lnTo>
                <a:cubicBezTo>
                  <a:pt x="288846" y="370681"/>
                  <a:pt x="281702" y="377825"/>
                  <a:pt x="272971" y="377825"/>
                </a:cubicBezTo>
                <a:cubicBezTo>
                  <a:pt x="264239" y="377825"/>
                  <a:pt x="257096" y="370681"/>
                  <a:pt x="257096" y="361950"/>
                </a:cubicBezTo>
                <a:lnTo>
                  <a:pt x="257096" y="336550"/>
                </a:lnTo>
                <a:cubicBezTo>
                  <a:pt x="257096" y="327819"/>
                  <a:pt x="249952" y="320675"/>
                  <a:pt x="241221" y="320675"/>
                </a:cubicBezTo>
                <a:cubicBezTo>
                  <a:pt x="232489" y="320675"/>
                  <a:pt x="225346" y="327819"/>
                  <a:pt x="225346" y="336550"/>
                </a:cubicBezTo>
                <a:lnTo>
                  <a:pt x="225346" y="361950"/>
                </a:lnTo>
                <a:cubicBezTo>
                  <a:pt x="225346" y="370681"/>
                  <a:pt x="218202" y="377825"/>
                  <a:pt x="209471" y="377825"/>
                </a:cubicBezTo>
                <a:cubicBezTo>
                  <a:pt x="200739" y="377825"/>
                  <a:pt x="193596" y="370681"/>
                  <a:pt x="193596" y="361950"/>
                </a:cubicBezTo>
                <a:lnTo>
                  <a:pt x="193596" y="336550"/>
                </a:lnTo>
                <a:cubicBezTo>
                  <a:pt x="193596" y="315833"/>
                  <a:pt x="206851" y="298212"/>
                  <a:pt x="225346" y="291624"/>
                </a:cubicBezTo>
                <a:lnTo>
                  <a:pt x="225346" y="254635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7305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Records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32500" y="3492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structured, consistent clinical outputs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968500"/>
            <a:ext cx="4826000" cy="2349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85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85500" y="27305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Follow-Up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985500" y="3492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Draft referrals, prescriptions, and next-step plans sooner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445000"/>
            <a:ext cx="4572000" cy="2349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79500" y="469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1286" y="255508"/>
                </a:moveTo>
                <a:cubicBezTo>
                  <a:pt x="147479" y="277733"/>
                  <a:pt x="173673" y="292100"/>
                  <a:pt x="203200" y="292100"/>
                </a:cubicBezTo>
                <a:cubicBezTo>
                  <a:pt x="232727" y="292100"/>
                  <a:pt x="258921" y="277733"/>
                  <a:pt x="275114" y="255508"/>
                </a:cubicBezTo>
                <a:cubicBezTo>
                  <a:pt x="281305" y="247015"/>
                  <a:pt x="293211" y="245110"/>
                  <a:pt x="301704" y="251301"/>
                </a:cubicBezTo>
                <a:cubicBezTo>
                  <a:pt x="310198" y="257493"/>
                  <a:pt x="312103" y="269399"/>
                  <a:pt x="305911" y="277892"/>
                </a:cubicBezTo>
                <a:cubicBezTo>
                  <a:pt x="282813" y="309563"/>
                  <a:pt x="245428" y="330200"/>
                  <a:pt x="203200" y="330200"/>
                </a:cubicBezTo>
                <a:cubicBezTo>
                  <a:pt x="160973" y="330200"/>
                  <a:pt x="123587" y="309563"/>
                  <a:pt x="100489" y="277892"/>
                </a:cubicBezTo>
                <a:cubicBezTo>
                  <a:pt x="94298" y="269399"/>
                  <a:pt x="96202" y="257493"/>
                  <a:pt x="104696" y="251301"/>
                </a:cubicBezTo>
                <a:cubicBezTo>
                  <a:pt x="113189" y="245110"/>
                  <a:pt x="125095" y="247015"/>
                  <a:pt x="131286" y="255508"/>
                </a:cubicBezTo>
                <a:close/>
                <a:moveTo>
                  <a:pt x="114300" y="165100"/>
                </a:moveTo>
                <a:cubicBezTo>
                  <a:pt x="114300" y="151081"/>
                  <a:pt x="125681" y="139700"/>
                  <a:pt x="139700" y="139700"/>
                </a:cubicBezTo>
                <a:cubicBezTo>
                  <a:pt x="153719" y="139700"/>
                  <a:pt x="165100" y="151081"/>
                  <a:pt x="165100" y="165100"/>
                </a:cubicBezTo>
                <a:cubicBezTo>
                  <a:pt x="165100" y="179119"/>
                  <a:pt x="153719" y="190500"/>
                  <a:pt x="139700" y="190500"/>
                </a:cubicBezTo>
                <a:cubicBezTo>
                  <a:pt x="125681" y="190500"/>
                  <a:pt x="114300" y="179119"/>
                  <a:pt x="114300" y="165100"/>
                </a:cubicBezTo>
                <a:close/>
                <a:moveTo>
                  <a:pt x="266700" y="139700"/>
                </a:moveTo>
                <a:cubicBezTo>
                  <a:pt x="280719" y="139700"/>
                  <a:pt x="292100" y="151081"/>
                  <a:pt x="292100" y="165100"/>
                </a:cubicBezTo>
                <a:cubicBezTo>
                  <a:pt x="292100" y="179119"/>
                  <a:pt x="280719" y="190500"/>
                  <a:pt x="266700" y="190500"/>
                </a:cubicBezTo>
                <a:cubicBezTo>
                  <a:pt x="252681" y="190500"/>
                  <a:pt x="241300" y="179119"/>
                  <a:pt x="241300" y="165100"/>
                </a:cubicBezTo>
                <a:cubicBezTo>
                  <a:pt x="241300" y="151081"/>
                  <a:pt x="252681" y="139700"/>
                  <a:pt x="266700" y="139700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2070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Control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79500" y="5969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Clinicians review and approve every AI-generated artifact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4445000"/>
            <a:ext cx="4572000" cy="2349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2500" y="469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5207000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can measure in pilots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032500" y="5969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Minutes saved per consultation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4445000"/>
            <a:ext cx="4826000" cy="2349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5400000">
              <a:srgbClr val="0f172a">
                <a:alpha val="627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85500" y="469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2497" y="14526"/>
                </a:moveTo>
                <a:lnTo>
                  <a:pt x="252730" y="54293"/>
                </a:lnTo>
                <a:lnTo>
                  <a:pt x="352187" y="153749"/>
                </a:lnTo>
                <a:lnTo>
                  <a:pt x="391954" y="113983"/>
                </a:lnTo>
                <a:cubicBezTo>
                  <a:pt x="409337" y="96599"/>
                  <a:pt x="409337" y="68501"/>
                  <a:pt x="391954" y="51117"/>
                </a:cubicBezTo>
                <a:lnTo>
                  <a:pt x="355362" y="14526"/>
                </a:lnTo>
                <a:cubicBezTo>
                  <a:pt x="337979" y="-2857"/>
                  <a:pt x="309880" y="-2857"/>
                  <a:pt x="292497" y="14526"/>
                </a:cubicBezTo>
                <a:close/>
                <a:moveTo>
                  <a:pt x="221694" y="77153"/>
                </a:moveTo>
                <a:lnTo>
                  <a:pt x="221298" y="77232"/>
                </a:lnTo>
                <a:lnTo>
                  <a:pt x="106918" y="111522"/>
                </a:lnTo>
                <a:cubicBezTo>
                  <a:pt x="91123" y="116284"/>
                  <a:pt x="78581" y="128349"/>
                  <a:pt x="73343" y="144066"/>
                </a:cubicBezTo>
                <a:lnTo>
                  <a:pt x="3016" y="353854"/>
                </a:lnTo>
                <a:cubicBezTo>
                  <a:pt x="714" y="360759"/>
                  <a:pt x="1508" y="368300"/>
                  <a:pt x="5001" y="374491"/>
                </a:cubicBezTo>
                <a:lnTo>
                  <a:pt x="128349" y="251142"/>
                </a:lnTo>
                <a:cubicBezTo>
                  <a:pt x="127476" y="247967"/>
                  <a:pt x="127079" y="244713"/>
                  <a:pt x="127079" y="241300"/>
                </a:cubicBezTo>
                <a:cubicBezTo>
                  <a:pt x="127079" y="220266"/>
                  <a:pt x="144145" y="203200"/>
                  <a:pt x="165179" y="203200"/>
                </a:cubicBezTo>
                <a:cubicBezTo>
                  <a:pt x="186214" y="203200"/>
                  <a:pt x="203279" y="220266"/>
                  <a:pt x="203279" y="241300"/>
                </a:cubicBezTo>
                <a:cubicBezTo>
                  <a:pt x="203279" y="262334"/>
                  <a:pt x="186214" y="279400"/>
                  <a:pt x="165179" y="279400"/>
                </a:cubicBezTo>
                <a:cubicBezTo>
                  <a:pt x="161766" y="279400"/>
                  <a:pt x="158433" y="278924"/>
                  <a:pt x="155337" y="278130"/>
                </a:cubicBezTo>
                <a:lnTo>
                  <a:pt x="31988" y="401399"/>
                </a:lnTo>
                <a:cubicBezTo>
                  <a:pt x="38179" y="404892"/>
                  <a:pt x="45641" y="405686"/>
                  <a:pt x="52626" y="403384"/>
                </a:cubicBezTo>
                <a:lnTo>
                  <a:pt x="262414" y="333058"/>
                </a:lnTo>
                <a:cubicBezTo>
                  <a:pt x="278051" y="327819"/>
                  <a:pt x="290195" y="315278"/>
                  <a:pt x="294958" y="299482"/>
                </a:cubicBezTo>
                <a:lnTo>
                  <a:pt x="329248" y="185103"/>
                </a:lnTo>
                <a:lnTo>
                  <a:pt x="329327" y="184706"/>
                </a:lnTo>
                <a:lnTo>
                  <a:pt x="221774" y="7715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10985500" y="5207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Draft acceptance and edit rate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0985500" y="5969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completion time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985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5225" y="730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150019"/>
                </a:moveTo>
                <a:cubicBezTo>
                  <a:pt x="0" y="103971"/>
                  <a:pt x="37296" y="66675"/>
                  <a:pt x="83344" y="66675"/>
                </a:cubicBezTo>
                <a:lnTo>
                  <a:pt x="88900" y="66675"/>
                </a:lnTo>
                <a:cubicBezTo>
                  <a:pt x="101193" y="66675"/>
                  <a:pt x="111125" y="76607"/>
                  <a:pt x="111125" y="88900"/>
                </a:cubicBezTo>
                <a:cubicBezTo>
                  <a:pt x="111125" y="101193"/>
                  <a:pt x="101193" y="111125"/>
                  <a:pt x="88900" y="111125"/>
                </a:cubicBezTo>
                <a:lnTo>
                  <a:pt x="83344" y="111125"/>
                </a:lnTo>
                <a:cubicBezTo>
                  <a:pt x="61883" y="111125"/>
                  <a:pt x="44450" y="128558"/>
                  <a:pt x="44450" y="150019"/>
                </a:cubicBezTo>
                <a:lnTo>
                  <a:pt x="44450" y="155575"/>
                </a:lnTo>
                <a:lnTo>
                  <a:pt x="88900" y="155575"/>
                </a:lnTo>
                <a:cubicBezTo>
                  <a:pt x="113417" y="155575"/>
                  <a:pt x="133350" y="175508"/>
                  <a:pt x="133350" y="200025"/>
                </a:cubicBezTo>
                <a:lnTo>
                  <a:pt x="133350" y="244475"/>
                </a:lnTo>
                <a:cubicBezTo>
                  <a:pt x="133350" y="268992"/>
                  <a:pt x="113417" y="288925"/>
                  <a:pt x="88900" y="288925"/>
                </a:cubicBezTo>
                <a:lnTo>
                  <a:pt x="44450" y="288925"/>
                </a:lnTo>
                <a:cubicBezTo>
                  <a:pt x="19933" y="288925"/>
                  <a:pt x="0" y="268992"/>
                  <a:pt x="0" y="244475"/>
                </a:cubicBezTo>
                <a:lnTo>
                  <a:pt x="0" y="150019"/>
                </a:lnTo>
                <a:close/>
                <a:moveTo>
                  <a:pt x="177800" y="150019"/>
                </a:moveTo>
                <a:cubicBezTo>
                  <a:pt x="177800" y="103971"/>
                  <a:pt x="215096" y="66675"/>
                  <a:pt x="261144" y="66675"/>
                </a:cubicBezTo>
                <a:lnTo>
                  <a:pt x="266700" y="66675"/>
                </a:lnTo>
                <a:cubicBezTo>
                  <a:pt x="278993" y="66675"/>
                  <a:pt x="288925" y="76607"/>
                  <a:pt x="288925" y="88900"/>
                </a:cubicBezTo>
                <a:cubicBezTo>
                  <a:pt x="288925" y="101193"/>
                  <a:pt x="278993" y="111125"/>
                  <a:pt x="266700" y="111125"/>
                </a:cubicBezTo>
                <a:lnTo>
                  <a:pt x="261144" y="111125"/>
                </a:lnTo>
                <a:cubicBezTo>
                  <a:pt x="239683" y="111125"/>
                  <a:pt x="222250" y="128558"/>
                  <a:pt x="222250" y="150019"/>
                </a:cubicBezTo>
                <a:lnTo>
                  <a:pt x="222250" y="155575"/>
                </a:lnTo>
                <a:lnTo>
                  <a:pt x="266700" y="155575"/>
                </a:lnTo>
                <a:cubicBezTo>
                  <a:pt x="291217" y="155575"/>
                  <a:pt x="311150" y="175508"/>
                  <a:pt x="311150" y="200025"/>
                </a:cubicBezTo>
                <a:lnTo>
                  <a:pt x="311150" y="244475"/>
                </a:lnTo>
                <a:cubicBezTo>
                  <a:pt x="311150" y="268992"/>
                  <a:pt x="291217" y="288925"/>
                  <a:pt x="266700" y="288925"/>
                </a:cubicBezTo>
                <a:lnTo>
                  <a:pt x="222250" y="288925"/>
                </a:lnTo>
                <a:cubicBezTo>
                  <a:pt x="197733" y="288925"/>
                  <a:pt x="177800" y="268992"/>
                  <a:pt x="177800" y="244475"/>
                </a:cubicBezTo>
                <a:lnTo>
                  <a:pt x="177800" y="150019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1651000" y="71755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i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 satisfaction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10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995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Ask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2413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 us take AfiyaPulse from hackathon demo to clinic pilot.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3429000"/>
            <a:ext cx="635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NEED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82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Partners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5397500"/>
            <a:ext cx="3429000" cy="4572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53975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Clinicians and clinics willing to test the workflow with realistic consultation scenarios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Feedback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969000"/>
            <a:ext cx="2540000" cy="4572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5969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Doctors, nurses, and health administrators to validate templates and review flows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Support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6540500"/>
            <a:ext cx="1143000" cy="45720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206500" y="6540500"/>
            <a:ext cx="95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Integration, deployment, security, and data governance mentorship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Let’s Build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71120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06500" y="7112000"/>
            <a:ext cx="57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AfiyaPulse can become the documentation layer that helps healthcare teams focus on patients again.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7112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NXforge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0000" y="2921000"/>
            <a:ext cx="6096000" cy="4318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76200" dir="5400000">
              <a:srgbClr val="0f172a">
                <a:alpha val="70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8000" y="330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AfiyaPulse Hackathon Demo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98000" y="3810000"/>
            <a:ext cx="5080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980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40640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Nairobi, Kenya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98000" y="476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0" y="46990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ready: dashboard, patients, consultations, review workflow, AI agents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36100" y="5397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0" y="53340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8000" y="609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876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AfiyaPulse Hackathon Pitch Deck</dc:title>
  <dc:subject>AI clinical documentation hackathon presentation</dc:subject>
  <dc:creator>Kimi</dc:creator>
  <ns0:lastModifiedBy>Kimi</ns0:lastModifiedBy>
  <ns0:revision>1</ns0:revision>
  <ns2:created xsi:type="dcterms:W3CDTF">2026-05-03T09:16:27Z</ns2:created>
  <ns2:modified xsi:type="dcterms:W3CDTF">2026-05-03T09:16:27Z</ns2:modified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{"Label":"AfiyaPulse — AI Clinical Documentation Platform","ContentProducer":"001191110108MACG2KBH8F10000","ProduceID":"19ded1a7-10f2-88a4-8000-000057a45db4","ReservedCode1":"","ContentPropagator":"001191110108MACG2KBH8F20000","PropagateID":"19ded1a7-10f2-88a4-8000-000057a45db4","ReservedCode2":""}</vt:lpwstr>
  </property>
</Properties>
</file>